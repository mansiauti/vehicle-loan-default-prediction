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Model Comparison — Higher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0.65</c:v>
                </c:pt>
                <c:pt idx="2">
                  <c:v>0.68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7C93D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0.31</c:v>
                </c:pt>
                <c:pt idx="1">
                  <c:v>0.34</c:v>
                </c:pt>
                <c:pt idx="2">
                  <c:v>0.36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8630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0.58</c:v>
                </c:pt>
                <c:pt idx="1">
                  <c:v>0.55</c:v>
                </c:pt>
                <c:pt idx="2">
                  <c:v>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9525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4572000" cy="4572000"/>
          </a:xfrm>
          <a:prstGeom prst="ellipse">
            <a:avLst/>
          </a:prstGeom>
          <a:solidFill>
            <a:srgbClr val="26316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4114800" cy="4114800"/>
          </a:xfrm>
          <a:prstGeom prst="ellipse">
            <a:avLst/>
          </a:prstGeom>
          <a:solidFill>
            <a:srgbClr val="26316E"/>
          </a:solidFill>
          <a:ln/>
        </p:spPr>
      </p:sp>
      <p:pic>
        <p:nvPicPr>
          <p:cNvPr id="4" name="Image 0" descr="/home/claude/ppt/badge_car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858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Loan Default Prediction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loan risk before it happens — using Machine Learning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709160" y="3977640"/>
            <a:ext cx="2743200" cy="0"/>
          </a:xfrm>
          <a:prstGeom prst="line">
            <a:avLst/>
          </a:prstGeom>
          <a:noFill/>
          <a:ln w="25400">
            <a:solidFill>
              <a:srgbClr val="E8630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343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Mansi Machindra Auti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Seat No. 1304039
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MSc(Data Science) — Semester IV
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Mumbai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|  L&amp;T FinHack Dataset  |  XGBoost +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In Plain Words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lenders need this before they say "yes" to a loan</a:t>
            </a:r>
            <a:endParaRPr lang="en-US" sz="1400" dirty="0"/>
          </a:p>
        </p:txBody>
      </p:sp>
      <p:pic>
        <p:nvPicPr>
          <p:cNvPr id="4" name="Image 0" descr="/home/claude/ppt/badge_c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8562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applies for a vehicle loan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737360" y="22585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or NBFC lends money so the person can buy a car, bike, or commercial vehicle.</a:t>
            </a:r>
            <a:endParaRPr lang="en-US" sz="1350" dirty="0"/>
          </a:p>
        </p:txBody>
      </p:sp>
      <p:pic>
        <p:nvPicPr>
          <p:cNvPr id="7" name="Image 1" descr="/home/claude/ppt/badge_ale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91840"/>
            <a:ext cx="77724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32735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borrowers stop repaying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737360" y="36758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 of these borrowers eventually default — they stop paying back the loan.</a:t>
            </a:r>
            <a:endParaRPr lang="en-US" sz="1350" dirty="0"/>
          </a:p>
        </p:txBody>
      </p:sp>
      <p:pic>
        <p:nvPicPr>
          <p:cNvPr id="10" name="Image 2" descr="/home/claude/ppt/badge_sear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709160"/>
            <a:ext cx="777240" cy="777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37360" y="46908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lender can't always tell in advance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737360" y="509320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a form alone doesn't say who is risky and who isn't — the warning signs are hidden in the data.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9921240" y="1874520"/>
            <a:ext cx="1691640" cy="4160520"/>
          </a:xfrm>
          <a:prstGeom prst="roundRect">
            <a:avLst>
              <a:gd name="adj" fmla="val 6486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921240" y="2148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~21%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10058400" y="27889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borrowers in this dataset eventually defaulted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10058400" y="3931920"/>
            <a:ext cx="14173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058400" y="411480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real money at risk — for every single loan approved.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idea, built into a working tool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an applicant's details and credit history, and tell the lender — before approval — how likely they are to default, and why.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33756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ppt/badge_targe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361188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572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risk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4983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default-probability score for every applicant, not just yes/no.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333756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1" name="Image 1" descr="/home/claude/ppt/badge_brain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361188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4572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"why"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9160" y="4983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factors push the risk up, in language a loan officer understands.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83880" y="333756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5" name="Image 2" descr="/home/claude/ppt/badge_mobil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620" y="3611880"/>
            <a:ext cx="82296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4572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usable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58200" y="4983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app — one applicant at a time, or a whole batch via CSV upload.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Behind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L&amp;T FinHack — real, anonymised vehicle-loan records from Kaggle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933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2.33 Lakh+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9933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2606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933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3640" y="2606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9680" y="18745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19933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06840" y="2606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 (incl. 6 engineered)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each record: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details — amount disbursed, asset (vehicle) cost, loan-to-value ratio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info — employment type, state, KYC documents on file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history — existing loans, active accounts, overdue accounts, past inquiries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— did this loan actually default within 90 days? (what we're predicting)</a:t>
            </a:r>
            <a:endParaRPr lang="en-US" sz="1300" dirty="0"/>
          </a:p>
        </p:txBody>
      </p:sp>
      <p:pic>
        <p:nvPicPr>
          <p:cNvPr id="18" name="Image 0" descr="/home/claude/ppt/badge_databa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4160520"/>
            <a:ext cx="1737360" cy="1737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Comes Together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spreadsheet to a live risk-prediction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74520" y="3337560"/>
            <a:ext cx="73152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pic>
        <p:nvPicPr>
          <p:cNvPr id="5" name="Image 0" descr="/home/claude/ppt/badge_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7432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023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600200" y="2633472"/>
            <a:ext cx="365760" cy="365760"/>
          </a:xfrm>
          <a:prstGeom prst="ellipse">
            <a:avLst/>
          </a:prstGeom>
          <a:solidFill>
            <a:srgbClr val="E8630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794760" y="3337560"/>
            <a:ext cx="73152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pic>
        <p:nvPicPr>
          <p:cNvPr id="9" name="Image 1" descr="/home/claude/ppt/badge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743200"/>
            <a:ext cx="1188720" cy="1188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86000" y="4023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Explore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520440" y="2633472"/>
            <a:ext cx="365760" cy="365760"/>
          </a:xfrm>
          <a:prstGeom prst="ellipse">
            <a:avLst/>
          </a:prstGeom>
          <a:solidFill>
            <a:srgbClr val="E8630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715000" y="3337560"/>
            <a:ext cx="73152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pic>
        <p:nvPicPr>
          <p:cNvPr id="13" name="Image 2" descr="/home/claude/ppt/badge_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743200"/>
            <a:ext cx="1188720" cy="11887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4023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440680" y="2633472"/>
            <a:ext cx="365760" cy="365760"/>
          </a:xfrm>
          <a:prstGeom prst="ellipse">
            <a:avLst/>
          </a:prstGeom>
          <a:solidFill>
            <a:srgbClr val="E8630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635240" y="3337560"/>
            <a:ext cx="73152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pic>
        <p:nvPicPr>
          <p:cNvPr id="17" name="Image 3" descr="/home/claude/ppt/badge_balanc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743200"/>
            <a:ext cx="1188720" cy="11887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26480" y="4023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(SMOTE)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7360920" y="2633472"/>
            <a:ext cx="365760" cy="365760"/>
          </a:xfrm>
          <a:prstGeom prst="ellipse">
            <a:avLst/>
          </a:prstGeom>
          <a:solidFill>
            <a:srgbClr val="E8630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555480" y="3337560"/>
            <a:ext cx="73152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pic>
        <p:nvPicPr>
          <p:cNvPr id="21" name="Image 4" descr="/home/claude/ppt/badge_brai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743200"/>
            <a:ext cx="1188720" cy="11887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46720" y="4023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9281160" y="2633472"/>
            <a:ext cx="365760" cy="365760"/>
          </a:xfrm>
          <a:prstGeom prst="ellipse">
            <a:avLst/>
          </a:prstGeom>
          <a:solidFill>
            <a:srgbClr val="E8630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pic>
        <p:nvPicPr>
          <p:cNvPr id="24" name="Image 5" descr="/home/claude/ppt/badge_rocke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2743200"/>
            <a:ext cx="1188720" cy="11887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966960" y="4023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11201400" y="2633472"/>
            <a:ext cx="365760" cy="365760"/>
          </a:xfrm>
          <a:prstGeom prst="ellipse">
            <a:avLst/>
          </a:prstGeom>
          <a:solidFill>
            <a:srgbClr val="E8630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85800" y="489204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960120" y="50292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were trained and compared at the "Train Models" step — Logistic Regression, Random Forest, and XGBoost — and the best one was carried forward into the app.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the Model to "Read Between the Lines"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new columns, built from the raw data, that carry hidden risk signals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ppt/badge_targ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176272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Loan-to-Asset Ratio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783080" y="24505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the vehicle's value is actually being borrowed.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26280" y="192024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9" name="Image 1" descr="/home/claude/ppt/badge_ale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176272"/>
            <a:ext cx="868680" cy="868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LTV Flag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669280" y="24505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loans where over 80% of the vehicle's value is borrowed — thin buffer if things go wrong.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412480" y="192024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3" name="Image 2" descr="/home/claude/ppt/badge_sear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176272"/>
            <a:ext cx="868680" cy="8686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554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Inquiry Flag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9555480" y="24505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applicants who've shopped for credit too many times recently — a "credit hungry" signal.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352044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3" descr="/home/claude/ppt/badge_lay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776472"/>
            <a:ext cx="868680" cy="8686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8308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Accounts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783080" y="40507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loan/credit accounts the applicant is juggling in total.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26280" y="352044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1" name="Image 4" descr="/home/claude/ppt/badge_balanc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3776472"/>
            <a:ext cx="868680" cy="8686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6928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Account Ratio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5669280" y="40507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those accounts are still active and being repaid right now.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412480" y="352044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5" name="Image 5" descr="/home/claude/ppt/badge_aler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3776472"/>
            <a:ext cx="868680" cy="8686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55548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Overdue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9555480" y="40507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yes/no — has this applicant already missed a payment somewhere else.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a Sneaky Trap: Class Imbalance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"79% accurate" model can still be completely useless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~21% of borrowers actually default. So a lazy model could just predict "will repay" for everyone — and still be right 79% of the time, while catching zero real defaulters.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977640"/>
            <a:ext cx="48463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SMOTE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creates realistic, synthetic examples of defaulters (the minority group) so the model actually sees enough of them to learn the pattern.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pic>
        <p:nvPicPr>
          <p:cNvPr id="11" name="Image 0" descr="/home/claude/ppt/badge_aler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148840"/>
            <a:ext cx="1097280" cy="10972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0" y="3429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remembering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0" y="384048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data is synthetic, not real — it can introduce a little noise. In a real production system, this would need ongoing monitoring (PSI, KS tests) to make sure the model stays reliable over time.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Put to the Test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features — which one spots defaulters best?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7589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920240"/>
            <a:ext cx="3063240" cy="411480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</p:spPr>
      </p:sp>
      <p:pic>
        <p:nvPicPr>
          <p:cNvPr id="6" name="Image 0" descr="/home/claude/ppt/badge_targe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14884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0" y="3200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wins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686800" y="3657600"/>
            <a:ext cx="2606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scored highest on every metric that matters — and, just as importantly, its decisions can be explained (more on that next).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XGBoost — Not Just the "Best Score"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lending, being able to explain a decision matters as much as accuracy</a:t>
            </a:r>
            <a:endParaRPr lang="en-US" sz="1400" dirty="0"/>
          </a:p>
        </p:txBody>
      </p:sp>
      <p:pic>
        <p:nvPicPr>
          <p:cNvPr id="4" name="Image 0" descr="/home/claude/ppt/badge_user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148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RBI-regulated lenders can't act on a black box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14600" y="260604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loan is rejected, the lender must be able to say why. A model that just outputs "reject" with no reasoning isn't usable in real Indian NBFC/banking workflows.</a:t>
            </a:r>
            <a:endParaRPr lang="en-US" sz="1300" dirty="0"/>
          </a:p>
        </p:txBody>
      </p:sp>
      <p:pic>
        <p:nvPicPr>
          <p:cNvPr id="7" name="Image 1" descr="/home/claude/ppt/badge_bra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11880"/>
            <a:ext cx="1463040" cy="1463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14600" y="36576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+ SHAP opens the box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514600" y="411480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show exactly which factors pushed each applicant's risk score up or down — e.g. "high LTV" or "recent overdue account" — in a way a loan officer can read directly.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3F6FD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an explainable, slightly-simpler model beats a marginally more "powerful" black box, when the decision affects a real person's loan.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Good Is It, In Real Terms?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XGBoost model — performance on unseen test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9659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0" y="25420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659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25420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19659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869680" y="25420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0" descr="/home/claude/ppt/badge_chartbar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520440"/>
            <a:ext cx="868680" cy="8686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920240" y="342900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out of every 100 borrowers who actually go on to default, this model correctly flags about 60 of them in advance — giving the lender a real head start on the ones who matter most.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ROC-AUC, not plain accuracy?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~21% of loans defaulting, accuracy alone is misleading — a model can score high accuracy while missing almost every real defaulter. ROC-AUC measures how well the model tells defaulters apart from non-defaulters across every possible cut-off, so it reflects true predictive power.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 Work: The Streamlit 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pages that turn the model into something a lender can actually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ppt/badge_hom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48840" y="26517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a side-by-side comparison of all three models.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9202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9" name="Image 1" descr="/home/claude/ppt/badge_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40280"/>
            <a:ext cx="1051560" cy="10515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Prediction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0" y="26517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one applicant's details, get an instant risk score with a visual risk meter.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3" name="Image 2" descr="/home/claude/ppt/badge_csv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89120"/>
            <a:ext cx="1051560" cy="10515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4884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Prediction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148840" y="48006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of many applicants at once, get risk scores for all of them, download the results.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63640" y="4069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3" descr="/home/claude/ppt/badge_chartb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389120"/>
            <a:ext cx="1051560" cy="10515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Insights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772400" y="48006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importance, ROC curves, and the confusion matrix — the model's report card.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Walkthrough: Single Prediction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loan officer sees for one applicant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officer fills a short form: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&amp; vehicle cost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&amp; employment info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documents on file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history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"Predict Default Risk"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257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returns a default probability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57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Meter (example)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2834640"/>
            <a:ext cx="1554480" cy="411480"/>
          </a:xfrm>
          <a:prstGeom prst="rect">
            <a:avLst/>
          </a:prstGeom>
          <a:solidFill>
            <a:srgbClr val="1B7A43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2834640"/>
            <a:ext cx="1005840" cy="411480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0" y="2834640"/>
            <a:ext cx="1691640" cy="4114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3"/>
          <p:cNvSpPr/>
          <p:nvPr/>
        </p:nvSpPr>
        <p:spPr>
          <a:xfrm>
            <a:off x="9006840" y="2697480"/>
            <a:ext cx="0" cy="685800"/>
          </a:xfrm>
          <a:prstGeom prst="line">
            <a:avLst/>
          </a:prstGeom>
          <a:noFill/>
          <a:ln w="3175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33101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329184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             33%          60%             100%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83680" y="397764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DECE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114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HIGH DEFAULT RISK — 58%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9377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 Flags shown below: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20840" y="53035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overdue accounts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LTV (&gt;80%)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recent inquiries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Walkthrough: Batch Prediction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hundreds of applicants at once — not just one at a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ppt/badge_csv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19456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Upload a CSV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of many applicants — one row per person.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29000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9" name="Image 1" descr="/home/claude/ppt/badge_cog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219456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Auto-processing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11880" y="37033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engineered features are calculated automatically; columns are cleaned.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3" name="Image 2" descr="/home/claude/ppt/badge_rocke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2194560"/>
            <a:ext cx="914400" cy="914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Run predictions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0" y="37033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every single row in one go.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006840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3" descr="/home/claude/ppt/badge_chartb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2194560"/>
            <a:ext cx="914400" cy="914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Download results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189720" y="37033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CSV with default probability, prediction, and risk category added — ready to review.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lender can screen an entire day's or month's loan applications in seconds, instead of one file at a time — perfect for a busy branch or a portfolio-wide risk review.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Taught 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code — the judgment calls that mattered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ppt/badge_usershield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9601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21671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beats raw complexity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057400" y="2743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regulated lending, a model you can explain is worth more than a marginally better black box.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9659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9" name="Image 1" descr="/home/claude/ppt/badge_targe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86000"/>
            <a:ext cx="960120" cy="960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0" y="21671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metric changes everything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680960" y="2743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imbalanced dataset, accuracy lies — ROC-AUC tells the real story.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114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3" name="Image 2" descr="/home/claude/ppt/badge_cogs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34840"/>
            <a:ext cx="960120" cy="9601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57400" y="43159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features do real work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057400" y="4892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human-understandable engineered features noticeably improved the model.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4114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3" descr="/home/claude/ppt/badge_aler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34840"/>
            <a:ext cx="960120" cy="9601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80960" y="43159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caveats matter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680960" y="4892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oversampling (SMOTE) helps, but production systems still need ongoing monitoring.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Limits, and 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is finished — here's what I'd tackle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(SMOTE) samples can introduce some noise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use name/DOB — by design, for privacy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regular monitoring in production (PSI, KS drift checks)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0.68 leaves room to grow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031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60604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live credit-bureau API for real-time scoring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time-based features (seasonality, economic indicators)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ensemble stacking or deep learning for a further lift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monitoring dashboard for model drift over time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Loan Default Prediction · MSc Data Science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316E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572000" cy="4572000"/>
          </a:xfrm>
          <a:prstGeom prst="ellipse">
            <a:avLst/>
          </a:prstGeom>
          <a:solidFill>
            <a:srgbClr val="26316E"/>
          </a:solidFill>
          <a:ln/>
        </p:spPr>
      </p:sp>
      <p:pic>
        <p:nvPicPr>
          <p:cNvPr id="4" name="Image 0" descr="/home/claude/ppt/badge_che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09160" y="4343400"/>
            <a:ext cx="2743200" cy="0"/>
          </a:xfrm>
          <a:prstGeom prst="line">
            <a:avLst/>
          </a:prstGeom>
          <a:noFill/>
          <a:ln w="25400">
            <a:solidFill>
              <a:srgbClr val="E8630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Mansi Machindra Auti  ·  Seat No. 1304039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MSc(Data Science), Semester IV — University of Mumbai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2026-07-12T09:28:59Z</dcterms:created>
  <dcterms:modified xsi:type="dcterms:W3CDTF">2026-07-12T09:28:59Z</dcterms:modified>
</cp:coreProperties>
</file>